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StateShift · HACKCBS 9.0 · Cloud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31375" y="6419088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01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00" b="0" i="0">
                <a:solidFill>
                  <a:srgbClr val="5E5E59"/>
                </a:solidFill>
                <a:latin typeface="JetBrains Mono"/>
              </a:rPr>
              <a:t>HACKCBS 9.0 · CLOUD TRACK · 24 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5000"/>
              </a:lnSpc>
            </a:pPr>
            <a:r>
              <a:rPr sz="9600" b="1">
                <a:solidFill>
                  <a:srgbClr val="111111"/>
                </a:solidFill>
                <a:latin typeface="Inter"/>
              </a:rPr>
              <a:t>State</a:t>
            </a:r>
            <a:r>
              <a:rPr sz="9600" b="1">
                <a:solidFill>
                  <a:srgbClr val="E53E3E"/>
                </a:solidFill>
                <a:latin typeface="Inter"/>
              </a:rPr>
              <a:t>Shift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611880"/>
            <a:ext cx="2011680" cy="1828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86200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3000" b="0" i="0">
                <a:solidFill>
                  <a:srgbClr val="111111"/>
                </a:solidFill>
                <a:latin typeface="Inter"/>
              </a:rPr>
              <a:t>Move a running workload between machines.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2628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3000" b="0" i="0">
                <a:solidFill>
                  <a:srgbClr val="5E5E59"/>
                </a:solidFill>
                <a:latin typeface="Inter"/>
              </a:rPr>
              <a:t>No restart. No repeated work.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5806440"/>
            <a:ext cx="10728655" cy="1097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7680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00" b="0" i="0">
                <a:solidFill>
                  <a:srgbClr val="5E5E59"/>
                </a:solidFill>
                <a:latin typeface="JetBrains Mono"/>
              </a:rPr>
              <a:t>github.com/guneettoppo/stateshift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594360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92000"/>
              </a:lnSpc>
              <a:spcAft>
                <a:spcPts val="0"/>
              </a:spcAft>
            </a:pPr>
            <a:r>
              <a:rPr sz="1000" b="0" i="0">
                <a:solidFill>
                  <a:srgbClr val="5E5E59"/>
                </a:solidFill>
                <a:latin typeface="JetBrains Mono"/>
              </a:rPr>
              <a:t>TEAM · NAME · NAME ·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StateShift · HACKCBS 9.0 · Cloud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31375" y="6419088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02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STATE SHIFT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96926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00" b="0" i="0">
                <a:solidFill>
                  <a:srgbClr val="E53E3E"/>
                </a:solidFill>
                <a:latin typeface="JetBrains Mono"/>
              </a:rPr>
              <a:t>01 / THE FAILURE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969264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3400" b="1" i="0">
                <a:solidFill>
                  <a:srgbClr val="111111"/>
                </a:solidFill>
                <a:latin typeface="Inter"/>
              </a:rPr>
              <a:t>The failure you have already lived through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10728655" cy="1097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0" i="0">
                <a:solidFill>
                  <a:srgbClr val="5E5E59"/>
                </a:solidFill>
                <a:latin typeface="JetBrains Mono"/>
              </a:rPr>
              <a:t>AGENT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52344"/>
            <a:ext cx="84124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900" b="1" i="0">
                <a:solidFill>
                  <a:srgbClr val="111111"/>
                </a:solidFill>
                <a:latin typeface="Inter"/>
              </a:rPr>
              <a:t>40 tool calls, $6 of tokens, the box dies at call 31.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383280"/>
            <a:ext cx="8229600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574536" y="3300984"/>
            <a:ext cx="164592" cy="164592"/>
          </a:xfrm>
          <a:prstGeom prst="line">
            <a:avLst/>
          </a:prstGeom>
          <a:ln w="22225">
            <a:solidFill>
              <a:srgbClr val="E5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574536" y="3300984"/>
            <a:ext cx="164592" cy="164592"/>
          </a:xfrm>
          <a:prstGeom prst="line">
            <a:avLst/>
          </a:prstGeom>
          <a:ln w="22225">
            <a:solidFill>
              <a:srgbClr val="E5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784848" y="3236976"/>
            <a:ext cx="2176272" cy="292608"/>
          </a:xfrm>
          <a:prstGeom prst="rect">
            <a:avLst/>
          </a:prstGeom>
          <a:solidFill>
            <a:srgbClr val="EF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876288" y="3332988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LOST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3172968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92000"/>
              </a:lnSpc>
              <a:spcAft>
                <a:spcPts val="0"/>
              </a:spcAft>
            </a:pPr>
            <a:r>
              <a:rPr sz="900" b="0" i="0">
                <a:solidFill>
                  <a:srgbClr val="5E5E59"/>
                </a:solidFill>
                <a:latin typeface="JetBrains Mono"/>
              </a:rPr>
              <a:t>call 31 / 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21608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0" i="0">
                <a:solidFill>
                  <a:srgbClr val="5E5E59"/>
                </a:solidFill>
                <a:latin typeface="JetBrains Mono"/>
              </a:rPr>
              <a:t>SIMULATION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59352"/>
            <a:ext cx="84124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900" b="1" i="0">
                <a:solidFill>
                  <a:srgbClr val="111111"/>
                </a:solidFill>
                <a:latin typeface="Inter"/>
              </a:rPr>
              <a:t>Six hours of progress held in memory. Restarting means six hours again.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590288"/>
            <a:ext cx="8229600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5175504" y="4507992"/>
            <a:ext cx="164592" cy="164592"/>
          </a:xfrm>
          <a:prstGeom prst="line">
            <a:avLst/>
          </a:prstGeom>
          <a:ln w="22225">
            <a:solidFill>
              <a:srgbClr val="E5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175504" y="4507992"/>
            <a:ext cx="164592" cy="164592"/>
          </a:xfrm>
          <a:prstGeom prst="line">
            <a:avLst/>
          </a:prstGeom>
          <a:ln w="22225">
            <a:solidFill>
              <a:srgbClr val="E5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385816" y="4443984"/>
            <a:ext cx="3575304" cy="292608"/>
          </a:xfrm>
          <a:prstGeom prst="rect">
            <a:avLst/>
          </a:prstGeom>
          <a:solidFill>
            <a:srgbClr val="EF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477256" y="4539996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LOST 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4379976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92000"/>
              </a:lnSpc>
              <a:spcAft>
                <a:spcPts val="0"/>
              </a:spcAft>
            </a:pPr>
            <a:r>
              <a:rPr sz="900" b="0" i="0">
                <a:solidFill>
                  <a:srgbClr val="5E5E59"/>
                </a:solidFill>
                <a:latin typeface="JetBrains Mono"/>
              </a:rPr>
              <a:t>hour 6 / 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928616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0" i="0">
                <a:solidFill>
                  <a:srgbClr val="5E5E59"/>
                </a:solidFill>
                <a:latin typeface="JetBrains Mono"/>
              </a:rPr>
              <a:t>LIVE SESSION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166360"/>
            <a:ext cx="84124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900" b="1" i="0">
                <a:solidFill>
                  <a:srgbClr val="111111"/>
                </a:solidFill>
                <a:latin typeface="Inter"/>
              </a:rPr>
              <a:t>Unpersisted state, open handles, work in flight — no “just redeploy it”.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797296"/>
            <a:ext cx="8229600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3941064" y="5715000"/>
            <a:ext cx="164592" cy="164592"/>
          </a:xfrm>
          <a:prstGeom prst="line">
            <a:avLst/>
          </a:prstGeom>
          <a:ln w="22225">
            <a:solidFill>
              <a:srgbClr val="E5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941064" y="5715000"/>
            <a:ext cx="164592" cy="164592"/>
          </a:xfrm>
          <a:prstGeom prst="line">
            <a:avLst/>
          </a:prstGeom>
          <a:ln w="22225">
            <a:solidFill>
              <a:srgbClr val="E5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4151376" y="5650992"/>
            <a:ext cx="4809744" cy="292608"/>
          </a:xfrm>
          <a:prstGeom prst="rect">
            <a:avLst/>
          </a:prstGeom>
          <a:solidFill>
            <a:srgbClr val="EF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242816" y="5747004"/>
            <a:ext cx="1828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LOST 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5586984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92000"/>
              </a:lnSpc>
              <a:spcAft>
                <a:spcPts val="0"/>
              </a:spcAft>
            </a:pPr>
            <a:r>
              <a:rPr sz="900" b="0" i="0">
                <a:solidFill>
                  <a:srgbClr val="5E5E59"/>
                </a:solidFill>
                <a:latin typeface="JetBrains Mono"/>
              </a:rPr>
              <a:t>state lost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943600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300" b="0" i="0">
                <a:solidFill>
                  <a:srgbClr val="5E5E59"/>
                </a:solidFill>
                <a:latin typeface="Inter"/>
              </a:rPr>
              <a:t>Restarting is not just slow — it pays twice, for tokens, for compute, for the same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StateShift · HACKCBS 9.0 · Cloud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31375" y="6419088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03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STATE SHIFT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96926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00" b="0" i="0">
                <a:solidFill>
                  <a:srgbClr val="E53E3E"/>
                </a:solidFill>
                <a:latin typeface="JetBrains Mono"/>
              </a:rPr>
              <a:t>02 / WHY THE OBVIOUS ANSWERS FAIL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0584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3200" b="1" i="0">
                <a:solidFill>
                  <a:srgbClr val="111111"/>
                </a:solidFill>
                <a:latin typeface="Inter"/>
              </a:rPr>
              <a:t>Each one solves part of it, none moves the job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10728655" cy="1097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87168"/>
            <a:ext cx="2743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487168"/>
            <a:ext cx="42976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WHY IT MISSES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724912"/>
            <a:ext cx="10728655" cy="1097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299156" y="2901392"/>
            <a:ext cx="113384" cy="113384"/>
          </a:xfrm>
          <a:prstGeom prst="line">
            <a:avLst/>
          </a:prstGeom>
          <a:ln w="22225">
            <a:solidFill>
              <a:srgbClr val="E5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299156" y="2901392"/>
            <a:ext cx="113384" cy="113384"/>
          </a:xfrm>
          <a:prstGeom prst="line">
            <a:avLst/>
          </a:prstGeom>
          <a:ln w="22225">
            <a:solidFill>
              <a:srgbClr val="E5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2816352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Inter"/>
              </a:rPr>
              <a:t>Redeploy on the new node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83464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50" b="0" i="0">
                <a:solidFill>
                  <a:srgbClr val="5E5E59"/>
                </a:solidFill>
                <a:latin typeface="Inter"/>
              </a:rPr>
              <a:t>Works for stateless services only. Loses in-memory progress and duplicates committed side effects.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438144"/>
            <a:ext cx="10728655" cy="1097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3299156" y="3559759"/>
            <a:ext cx="113384" cy="113384"/>
          </a:xfrm>
          <a:prstGeom prst="line">
            <a:avLst/>
          </a:prstGeom>
          <a:ln w="22225">
            <a:solidFill>
              <a:srgbClr val="E5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299156" y="3559759"/>
            <a:ext cx="113384" cy="113384"/>
          </a:xfrm>
          <a:prstGeom prst="line">
            <a:avLst/>
          </a:prstGeom>
          <a:ln w="22225">
            <a:solidFill>
              <a:srgbClr val="E5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347472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Inter"/>
              </a:rPr>
              <a:t>Persist after every step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493008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50" b="0" i="0">
                <a:solidFill>
                  <a:srgbClr val="5E5E59"/>
                </a:solidFill>
                <a:latin typeface="Inter"/>
              </a:rPr>
              <a:t>That is durable execution — it keeps the job pinned to one machine, and it dies with the machine.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096511"/>
            <a:ext cx="10728655" cy="1097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3299156" y="4218128"/>
            <a:ext cx="113384" cy="113384"/>
          </a:xfrm>
          <a:prstGeom prst="line">
            <a:avLst/>
          </a:prstGeom>
          <a:ln w="22225">
            <a:solidFill>
              <a:srgbClr val="E5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3299156" y="4218128"/>
            <a:ext cx="113384" cy="113384"/>
          </a:xfrm>
          <a:prstGeom prst="line">
            <a:avLst/>
          </a:prstGeom>
          <a:ln w="22225">
            <a:solidFill>
              <a:srgbClr val="E5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1520" y="4133087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Inter"/>
              </a:rPr>
              <a:t>CRIU / process migration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151375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50" b="0" i="0">
                <a:solidFill>
                  <a:srgbClr val="5E5E59"/>
                </a:solidFill>
                <a:latin typeface="Inter"/>
              </a:rPr>
              <a:t>Needs root, matching kernels, matching images. All-or-nothing inside 24 hours.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754879"/>
            <a:ext cx="10728655" cy="1097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3299156" y="4876496"/>
            <a:ext cx="113384" cy="113384"/>
          </a:xfrm>
          <a:prstGeom prst="line">
            <a:avLst/>
          </a:prstGeom>
          <a:ln w="22225">
            <a:solidFill>
              <a:srgbClr val="E5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299156" y="4876496"/>
            <a:ext cx="113384" cy="113384"/>
          </a:xfrm>
          <a:prstGeom prst="line">
            <a:avLst/>
          </a:prstGeom>
          <a:ln w="22225">
            <a:solidFill>
              <a:srgbClr val="E53E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1520" y="4791455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Inter"/>
              </a:rPr>
              <a:t>VM live migration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809743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50" b="0" i="0">
                <a:solidFill>
                  <a:srgbClr val="5E5E59"/>
                </a:solidFill>
                <a:latin typeface="Inter"/>
              </a:rPr>
              <a:t>Solves it at the hypervisor layer, which means you own the hypervisor.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413247"/>
            <a:ext cx="10728655" cy="1097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532120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Inter"/>
              </a:rPr>
              <a:t>Chosen instead: move the workload’s explicit state at a step boundary, with a database-enforced handover.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StateShift · HACKCBS 9.0 · Cloud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31375" y="6419088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04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STATE SHIFT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96926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00" b="0" i="0">
                <a:solidFill>
                  <a:srgbClr val="E53E3E"/>
                </a:solidFill>
                <a:latin typeface="JetBrains Mono"/>
              </a:rPr>
              <a:t>03 / THE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900" b="1" i="0">
                <a:solidFill>
                  <a:srgbClr val="111111"/>
                </a:solidFill>
                <a:latin typeface="Inter"/>
              </a:rPr>
              <a:t>Checkpoint what you own, move what changed, fence who may write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10728655" cy="1097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987552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600" b="0" i="0">
                <a:solidFill>
                  <a:srgbClr val="5E5E59"/>
                </a:solidFill>
                <a:latin typeface="Inter"/>
              </a:rPr>
              <a:t>The workload is a state machine. We move its state at a step boundary and hand ownership with one atomic statement.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657600"/>
            <a:ext cx="2880360" cy="1234440"/>
          </a:xfrm>
          <a:prstGeom prst="rect">
            <a:avLst/>
          </a:prstGeom>
          <a:noFill/>
          <a:ln w="12700">
            <a:solidFill>
              <a:srgbClr val="DC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60120" y="391363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JetBrains Mono"/>
              </a:rPr>
              <a:t>FREEZE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279392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00" b="0" i="0">
                <a:solidFill>
                  <a:srgbClr val="5E5E59"/>
                </a:solidFill>
                <a:latin typeface="Inter"/>
              </a:rPr>
              <a:t>finish the step in flight, snapshot state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6200" y="3657600"/>
            <a:ext cx="2880360" cy="1234440"/>
          </a:xfrm>
          <a:prstGeom prst="rect">
            <a:avLst/>
          </a:prstGeom>
          <a:noFill/>
          <a:ln w="12700">
            <a:solidFill>
              <a:srgbClr val="DC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114800" y="391363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JetBrains Mono"/>
              </a:rPr>
              <a:t>TRANSFER DELTA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4279392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00" b="0" i="0">
                <a:solidFill>
                  <a:srgbClr val="5E5E59"/>
                </a:solidFill>
                <a:latin typeface="Inter"/>
              </a:rPr>
              <a:t>upload only chunks the store never saw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3657600"/>
            <a:ext cx="2880360" cy="1234440"/>
          </a:xfrm>
          <a:prstGeom prst="rect">
            <a:avLst/>
          </a:prstGeom>
          <a:noFill/>
          <a:ln w="12700">
            <a:solidFill>
              <a:srgbClr val="DC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269480" y="3913632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JetBrains Mono"/>
              </a:rPr>
              <a:t>RESUME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4279392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00" b="0" i="0">
                <a:solidFill>
                  <a:srgbClr val="5E5E59"/>
                </a:solidFill>
                <a:latin typeface="Inter"/>
              </a:rPr>
              <a:t>verify hash, continue under a new epoch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66744" y="4274820"/>
            <a:ext cx="164592" cy="0"/>
          </a:xfrm>
          <a:prstGeom prst="line">
            <a:avLst/>
          </a:prstGeom>
          <a:ln w="15240">
            <a:solidFill>
              <a:srgbClr val="5E5E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21424" y="4274820"/>
            <a:ext cx="164592" cy="0"/>
          </a:xfrm>
          <a:prstGeom prst="line">
            <a:avLst/>
          </a:prstGeom>
          <a:ln w="22225">
            <a:solidFill>
              <a:srgbClr val="E53E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784848" y="3890772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E53E3E"/>
                </a:solidFill>
                <a:latin typeface="JetBrains Mono"/>
              </a:rPr>
              <a:t>epoch fence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623560"/>
            <a:ext cx="10728655" cy="1097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760720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Inter"/>
              </a:rPr>
              <a:t>The trick is not moving memory — it is deciding, atomically, who is allowed to write.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StateShift · HACKCBS 9.0 · Cloud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31375" y="6419088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05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STATE SHIFT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96926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00" b="0" i="0">
                <a:solidFill>
                  <a:srgbClr val="E53E3E"/>
                </a:solidFill>
                <a:latin typeface="JetBrains Mono"/>
              </a:rPr>
              <a:t>04 /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900" b="1" i="0">
                <a:solidFill>
                  <a:srgbClr val="111111"/>
                </a:solidFill>
                <a:latin typeface="Inter"/>
              </a:rPr>
              <a:t>Three roles. The coordinator drives, the database decides.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10728655" cy="1097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514600"/>
            <a:ext cx="4206240" cy="914400"/>
          </a:xfrm>
          <a:prstGeom prst="rect">
            <a:avLst/>
          </a:prstGeom>
          <a:noFill/>
          <a:ln w="12700">
            <a:solidFill>
              <a:srgbClr val="DC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0120" y="2697480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JetBrains Mono"/>
              </a:rPr>
              <a:t>COORDINATOR  :9100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44952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50" b="0" i="0">
                <a:solidFill>
                  <a:srgbClr val="5E5E59"/>
                </a:solidFill>
                <a:latin typeface="JetBrains Mono"/>
              </a:rPr>
              <a:t>/api/jobs · /api/migrate · /api/events (SSE) · 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520440"/>
            <a:ext cx="2743200" cy="1143000"/>
          </a:xfrm>
          <a:prstGeom prst="rect">
            <a:avLst/>
          </a:prstGeom>
          <a:noFill/>
          <a:ln w="12700">
            <a:solidFill>
              <a:srgbClr val="DC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368503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JetBrains Mono"/>
              </a:rPr>
              <a:t>WORKER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50" b="0" i="0">
                <a:solidFill>
                  <a:srgbClr val="5E5E59"/>
                </a:solidFill>
                <a:latin typeface="JetBrains Mono"/>
              </a:rPr>
              <a:t>job loop · checkpoint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50" b="0" i="0">
                <a:solidFill>
                  <a:srgbClr val="5E5E59"/>
                </a:solidFill>
                <a:latin typeface="JetBrains Mono"/>
              </a:rPr>
              <a:t>/internal/quiesce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3520440"/>
            <a:ext cx="2743200" cy="1143000"/>
          </a:xfrm>
          <a:prstGeom prst="rect">
            <a:avLst/>
          </a:prstGeom>
          <a:noFill/>
          <a:ln w="12700">
            <a:solidFill>
              <a:srgbClr val="DC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023360" y="3685032"/>
            <a:ext cx="23774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JetBrains Mono"/>
              </a:rPr>
              <a:t>WORKER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4023360"/>
            <a:ext cx="23774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50" b="0" i="0">
                <a:solidFill>
                  <a:srgbClr val="5E5E59"/>
                </a:solidFill>
                <a:latin typeface="JetBrains Mono"/>
              </a:rPr>
              <a:t>job loop · restore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50" b="0" i="0">
                <a:solidFill>
                  <a:srgbClr val="5E5E59"/>
                </a:solidFill>
                <a:latin typeface="JetBrains Mono"/>
              </a:rPr>
              <a:t>/internal/restore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78040" y="3566160"/>
            <a:ext cx="4343400" cy="1051560"/>
          </a:xfrm>
          <a:prstGeom prst="rect">
            <a:avLst/>
          </a:prstGeom>
          <a:noFill/>
          <a:ln w="12700">
            <a:solidFill>
              <a:srgbClr val="DC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79208" y="3730752"/>
            <a:ext cx="3977639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JetBrains Mono"/>
              </a:rPr>
              <a:t>CONTROL 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4069080"/>
            <a:ext cx="397763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50" b="0" i="0">
                <a:solidFill>
                  <a:srgbClr val="5E5E59"/>
                </a:solidFill>
                <a:latin typeface="JetBrains Mono"/>
              </a:rPr>
              <a:t>jobs · epochs · oplog · checkpoints · migrations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78040" y="4892040"/>
            <a:ext cx="4343400" cy="868680"/>
          </a:xfrm>
          <a:prstGeom prst="rect">
            <a:avLst/>
          </a:prstGeom>
          <a:noFill/>
          <a:ln w="12700">
            <a:solidFill>
              <a:srgbClr val="DC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79208" y="5029200"/>
            <a:ext cx="3977639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JetBrains Mono"/>
              </a:rPr>
              <a:t>BLOB STORE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9208" y="5349240"/>
            <a:ext cx="3977639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50" b="0" i="0">
                <a:solidFill>
                  <a:srgbClr val="5E5E59"/>
                </a:solidFill>
                <a:latin typeface="JetBrains Mono"/>
              </a:rPr>
              <a:t>content-addressed chunks + manifests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463040" y="3474720"/>
            <a:ext cx="365760" cy="0"/>
          </a:xfrm>
          <a:prstGeom prst="line">
            <a:avLst/>
          </a:prstGeom>
          <a:ln w="11430">
            <a:solidFill>
              <a:srgbClr val="5E5E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68880" y="3474720"/>
            <a:ext cx="3017520" cy="0"/>
          </a:xfrm>
          <a:prstGeom prst="line">
            <a:avLst/>
          </a:prstGeom>
          <a:ln w="11430">
            <a:solidFill>
              <a:srgbClr val="5E5E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520439" y="4087368"/>
            <a:ext cx="274321" cy="0"/>
          </a:xfrm>
          <a:prstGeom prst="line">
            <a:avLst/>
          </a:prstGeom>
          <a:ln w="25400">
            <a:solidFill>
              <a:srgbClr val="E53E3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493008" y="3703320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E53E3E"/>
                </a:solidFill>
                <a:latin typeface="JetBrains Mono"/>
              </a:rPr>
              <a:t>MIGRATE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E53E3E"/>
                </a:solidFill>
                <a:latin typeface="JetBrains Mono"/>
              </a:rPr>
              <a:t>e0 → e1</a:t>
            </a:r>
          </a:p>
        </p:txBody>
      </p:sp>
      <p:cxnSp>
        <p:nvCxnSpPr>
          <p:cNvPr id="27" name="Connector 26"/>
          <p:cNvCxnSpPr/>
          <p:nvPr/>
        </p:nvCxnSpPr>
        <p:spPr>
          <a:xfrm flipV="1">
            <a:off x="3200400" y="4636007"/>
            <a:ext cx="4892040" cy="45720"/>
          </a:xfrm>
          <a:prstGeom prst="line">
            <a:avLst/>
          </a:prstGeom>
          <a:ln w="10160">
            <a:solidFill>
              <a:srgbClr val="5E5E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6309360" y="4636007"/>
            <a:ext cx="2880360" cy="45720"/>
          </a:xfrm>
          <a:prstGeom prst="line">
            <a:avLst/>
          </a:prstGeom>
          <a:ln w="10160">
            <a:solidFill>
              <a:srgbClr val="5E5E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31520" y="5943600"/>
            <a:ext cx="10728655" cy="1097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6053328"/>
            <a:ext cx="1072865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00" b="0" i="0">
                <a:solidFill>
                  <a:srgbClr val="5E5E59"/>
                </a:solidFill>
                <a:latin typeface="JetBrains Mono"/>
              </a:rPr>
              <a:t>Deployment rule: the control plane and the database never live on a worker — kill a node without killing the demo.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StateShift · HACKCBS 9.0 · Cloud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31375" y="6419088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06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STATE SHIFT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96926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00" b="0" i="0">
                <a:solidFill>
                  <a:srgbClr val="E53E3E"/>
                </a:solidFill>
                <a:latin typeface="JetBrains Mono"/>
              </a:rPr>
              <a:t>05 / CONSISTENCY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33272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2900" b="1" i="0">
                <a:solidFill>
                  <a:srgbClr val="111111"/>
                </a:solidFill>
                <a:latin typeface="Inter"/>
              </a:rPr>
              <a:t>The fence: one guarded statement decides who may write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10728655" cy="1097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606040"/>
            <a:ext cx="45720" cy="2331720"/>
          </a:xfrm>
          <a:prstGeom prst="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651760"/>
            <a:ext cx="6400800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50" b="0" i="0">
                <a:solidFill>
                  <a:srgbClr val="111111"/>
                </a:solidFill>
                <a:latin typeface="JetBrains Mono"/>
              </a:rPr>
              <a:t>UPDATE jobs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50" b="0" i="0">
                <a:solidFill>
                  <a:srgbClr val="111111"/>
                </a:solidFill>
                <a:latin typeface="JetBrains Mono"/>
              </a:rPr>
              <a:t>   SET epoch  = epoch + 1,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50" b="0" i="0">
                <a:solidFill>
                  <a:srgbClr val="111111"/>
                </a:solidFill>
                <a:latin typeface="JetBrains Mono"/>
              </a:rPr>
              <a:t>       owner  = $target,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50" b="0" i="0">
                <a:solidFill>
                  <a:srgbClr val="111111"/>
                </a:solidFill>
                <a:latin typeface="JetBrains Mono"/>
              </a:rPr>
              <a:t>       status = 'restoring'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50" b="0" i="0">
                <a:solidFill>
                  <a:srgbClr val="111111"/>
                </a:solidFill>
                <a:latin typeface="JetBrains Mono"/>
              </a:rPr>
              <a:t> WHERE id    = $job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650" b="0" i="0">
                <a:solidFill>
                  <a:srgbClr val="111111"/>
                </a:solidFill>
                <a:latin typeface="JetBrains Mono"/>
              </a:rPr>
              <a:t>   AND epoch = $current;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9834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00" b="0" i="0">
                <a:solidFill>
                  <a:srgbClr val="5E5E59"/>
                </a:solidFill>
                <a:latin typeface="JetBrains Mono"/>
              </a:rPr>
              <a:t>-- rows affected must be exactly 1, otherwise abort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0" y="2651760"/>
            <a:ext cx="33832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0" i="0">
                <a:solidFill>
                  <a:srgbClr val="5E5E59"/>
                </a:solidFill>
                <a:latin typeface="JetBrains Mono"/>
              </a:rPr>
              <a:t>WHY A HEARTBEAT IS NOT ENOUGH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2971800"/>
            <a:ext cx="338328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300" b="0" i="0">
                <a:solidFill>
                  <a:srgbClr val="111111"/>
                </a:solidFill>
                <a:latin typeface="Inter"/>
              </a:rPr>
              <a:t>A heartbeat answers “is it alive?” with a guess, hundreds of milliseconds late.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300" b="0" i="0">
                <a:solidFill>
                  <a:srgbClr val="111111"/>
                </a:solidFill>
                <a:latin typeface="Inter"/>
              </a:rPr>
              <a:t>This answers “who may write?” with a predicate evaluated at commit.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0" y="4434840"/>
            <a:ext cx="3383280" cy="1097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4572000"/>
            <a:ext cx="338328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00" b="1" i="0">
                <a:solidFill>
                  <a:srgbClr val="5E5E59"/>
                </a:solidFill>
                <a:latin typeface="Inter"/>
              </a:rPr>
              <a:t>Two nodes can both think they own the job. Only one can commit — ownership is a row, not a heartbeat.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StateShift · HACKCBS 9.0 · Cloud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31375" y="6419088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07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STATE SHIFT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96926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00" b="0" i="0">
                <a:solidFill>
                  <a:srgbClr val="E53E3E"/>
                </a:solidFill>
                <a:latin typeface="JetBrains Mono"/>
              </a:rPr>
              <a:t>06 / EXACTLY-ONCE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786384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Inter"/>
              </a:rPr>
              <a:t>Effects and progress commit in one transaction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10728655" cy="1097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00" b="0" i="0">
                <a:solidFill>
                  <a:srgbClr val="5E5E59"/>
                </a:solidFill>
                <a:latin typeface="JetBrains Mon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624328"/>
            <a:ext cx="3749039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Inter"/>
              </a:rPr>
              <a:t>Every step produces effects with stable IDs.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93008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00" b="0" i="0">
                <a:solidFill>
                  <a:srgbClr val="5E5E59"/>
                </a:solidFill>
                <a:latin typeface="JetBrains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465576"/>
            <a:ext cx="3749039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Inter"/>
              </a:rPr>
              <a:t>The effect log and the state advance commit together.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34256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00" b="0" i="0">
                <a:solidFill>
                  <a:srgbClr val="5E5E59"/>
                </a:solidFill>
                <a:latin typeface="JetBrains Mono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306824"/>
            <a:ext cx="3749039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Inter"/>
              </a:rPr>
              <a:t>A replay is a no-op by schema, not by policy.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75504"/>
            <a:ext cx="457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00" b="0" i="0">
                <a:solidFill>
                  <a:srgbClr val="5E5E59"/>
                </a:solidFill>
                <a:latin typeface="JetBrains Mono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148072"/>
            <a:ext cx="3749039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400" b="0" i="0">
                <a:solidFill>
                  <a:srgbClr val="111111"/>
                </a:solidFill>
                <a:latin typeface="Inter"/>
              </a:rPr>
              <a:t>Result: 800 ops for 800 steps after a mid-flight migration.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2606040"/>
            <a:ext cx="67665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0" y="2743200"/>
            <a:ext cx="6400800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111111"/>
                </a:solidFill>
                <a:latin typeface="JetBrains Mono"/>
              </a:rPr>
              <a:t>BEGIN;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111111"/>
                </a:solidFill>
                <a:latin typeface="JetBrains Mono"/>
              </a:rPr>
              <a:t>INSERT INTO oplog (job_id, seq, epoch, op_id, result)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111111"/>
                </a:solidFill>
                <a:latin typeface="JetBrains Mono"/>
              </a:rPr>
              <a:t>  VALUES ($job,$seq,$epoch,$op_id,$result)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111111"/>
                </a:solidFill>
                <a:latin typeface="JetBrains Mono"/>
              </a:rPr>
              <a:t>  ON CONFLICT (job_id,seq,op_id) DO NOTHING;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111111"/>
                </a:solidFill>
                <a:latin typeface="JetBrains Mono"/>
              </a:rPr>
              <a:t>UPDATE jobs SET seq = $next, state = $state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111111"/>
                </a:solidFill>
                <a:latin typeface="JetBrains Mono"/>
              </a:rPr>
              <a:t> WHERE id = $job AND epoch = $epoch AND seq = $from;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111111"/>
                </a:solidFill>
                <a:latin typeface="JetBrains Mono"/>
              </a:rPr>
              <a:t>COMMIT;   -- 0 rows updated =&gt; stale, abort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507492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00" b="1" i="0">
                <a:solidFill>
                  <a:srgbClr val="5E5E59"/>
                </a:solidFill>
                <a:latin typeface="Inter"/>
              </a:rPr>
              <a:t>Duplication becomes impossible, not unlikely.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StateShift · HACKCBS 9.0 · Cloud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31375" y="6419088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08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STATE SHIFT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96926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00" b="0" i="0">
                <a:solidFill>
                  <a:srgbClr val="E53E3E"/>
                </a:solidFill>
                <a:latin typeface="JetBrains Mono"/>
              </a:rPr>
              <a:t>07 / TRANSFER EFFICIENCY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Inter"/>
              </a:rPr>
              <a:t>The second checkpoint ships one chunk out of seven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10728655" cy="1097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3840480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8400" b="1" i="0">
                <a:solidFill>
                  <a:srgbClr val="111111"/>
                </a:solidFill>
                <a:latin typeface="JetBrains Mono"/>
              </a:rPr>
              <a:t>1 /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77639"/>
            <a:ext cx="42062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300" b="0" i="0">
                <a:solidFill>
                  <a:srgbClr val="5E5E59"/>
                </a:solidFill>
                <a:latin typeface="Inter"/>
              </a:rPr>
              <a:t>chunks re-uploaded on the second checkpoint of the same job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697480"/>
            <a:ext cx="566928" cy="566928"/>
          </a:xfrm>
          <a:prstGeom prst="rect">
            <a:avLst/>
          </a:prstGeom>
          <a:solidFill>
            <a:srgbClr val="EFEFEA"/>
          </a:solidFill>
          <a:ln w="12700">
            <a:solidFill>
              <a:srgbClr val="DC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035040" y="2697480"/>
            <a:ext cx="566928" cy="566928"/>
          </a:xfrm>
          <a:prstGeom prst="rect">
            <a:avLst/>
          </a:prstGeom>
          <a:solidFill>
            <a:srgbClr val="EFEFEA"/>
          </a:solidFill>
          <a:ln w="12700">
            <a:solidFill>
              <a:srgbClr val="DC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766560" y="2697480"/>
            <a:ext cx="566928" cy="566928"/>
          </a:xfrm>
          <a:prstGeom prst="rect">
            <a:avLst/>
          </a:prstGeom>
          <a:solidFill>
            <a:srgbClr val="EFEFEA"/>
          </a:solidFill>
          <a:ln w="12700">
            <a:solidFill>
              <a:srgbClr val="DC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7498079" y="2697480"/>
            <a:ext cx="566928" cy="566928"/>
          </a:xfrm>
          <a:prstGeom prst="rect">
            <a:avLst/>
          </a:prstGeom>
          <a:solidFill>
            <a:srgbClr val="EFEFEA"/>
          </a:solidFill>
          <a:ln w="12700">
            <a:solidFill>
              <a:srgbClr val="DC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229600" y="2697480"/>
            <a:ext cx="566928" cy="566928"/>
          </a:xfrm>
          <a:prstGeom prst="rect">
            <a:avLst/>
          </a:prstGeom>
          <a:solidFill>
            <a:srgbClr val="EFEFEA"/>
          </a:solidFill>
          <a:ln w="12700">
            <a:solidFill>
              <a:srgbClr val="DC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961120" y="2697480"/>
            <a:ext cx="566928" cy="566928"/>
          </a:xfrm>
          <a:prstGeom prst="rect">
            <a:avLst/>
          </a:prstGeom>
          <a:solidFill>
            <a:srgbClr val="EFEFEA"/>
          </a:solidFill>
          <a:ln w="12700">
            <a:solidFill>
              <a:srgbClr val="DC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9692640" y="2697480"/>
            <a:ext cx="566928" cy="56692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303520" y="34015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00" b="0" i="0">
                <a:solidFill>
                  <a:srgbClr val="5E5E59"/>
                </a:solidFill>
                <a:latin typeface="JetBrains Mono"/>
              </a:rPr>
              <a:t>6 skipped · 1 uploaded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79476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Inter"/>
              </a:rPr>
              <a:t>12.4 KiB state → 1,268 B of 12,377 B moved.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24528"/>
            <a:ext cx="5669280" cy="11887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600"/>
              </a:spcAft>
            </a:pPr>
            <a:r>
              <a:rPr sz="1250" b="0" i="0">
                <a:solidFill>
                  <a:srgbClr val="5E5E59"/>
                </a:solidFill>
                <a:latin typeface="Inter"/>
              </a:rPr>
              <a:t>Content-defined chunking, ~1 KiB average, sha256-addressed.</a:t>
            </a:r>
          </a:p>
          <a:p>
            <a:pPr algn="l">
              <a:lnSpc>
                <a:spcPct val="92000"/>
              </a:lnSpc>
              <a:spcAft>
                <a:spcPts val="600"/>
              </a:spcAft>
            </a:pPr>
            <a:r>
              <a:rPr sz="1250" b="0" i="0">
                <a:solidFill>
                  <a:srgbClr val="5E5E59"/>
                </a:solidFill>
                <a:latin typeface="Inter"/>
              </a:rPr>
              <a:t>Chunks the store already holds are skipped, never re-sent.</a:t>
            </a:r>
          </a:p>
          <a:p>
            <a:pPr algn="l">
              <a:lnSpc>
                <a:spcPct val="92000"/>
              </a:lnSpc>
              <a:spcAft>
                <a:spcPts val="600"/>
              </a:spcAft>
            </a:pPr>
            <a:r>
              <a:rPr sz="1250" b="0" i="0">
                <a:solidFill>
                  <a:srgbClr val="5E5E59"/>
                </a:solidFill>
                <a:latin typeface="Inter"/>
              </a:rPr>
              <a:t>About 10% of the bytes — the requirement, as one number.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806440"/>
            <a:ext cx="10728655" cy="1097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925312"/>
            <a:ext cx="1072865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00" b="0" i="0">
                <a:solidFill>
                  <a:srgbClr val="5E5E59"/>
                </a:solidFill>
                <a:latin typeface="JetBrains Mono"/>
              </a:rPr>
              <a:t>Immutable head, fixed-width tail: if a counter changes length, every boundary shifts and dedupe collapses to 0%.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StateShift · HACKCBS 9.0 · Cloud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31375" y="6419088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09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STATE SHIFT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96926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00" b="0" i="0">
                <a:solidFill>
                  <a:srgbClr val="E53E3E"/>
                </a:solidFill>
                <a:latin typeface="JetBrains Mono"/>
              </a:rPr>
              <a:t>08 / 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Inter"/>
              </a:rPr>
              <a:t>Same job, same sequence number, different machine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10728655" cy="1097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500" b="0" i="0">
                <a:solidFill>
                  <a:srgbClr val="5E5E59"/>
                </a:solidFill>
                <a:latin typeface="Inter"/>
              </a:rPr>
              <a:t>Five numbers on the dashboard, in the order that matters.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1871411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0" i="0">
                <a:solidFill>
                  <a:srgbClr val="5E5E59"/>
                </a:solidFill>
                <a:latin typeface="JetBrains Mono"/>
              </a:rPr>
              <a:t>EPOCH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49039"/>
            <a:ext cx="1871411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4000" b="1" i="0">
                <a:solidFill>
                  <a:srgbClr val="111111"/>
                </a:solidFill>
                <a:latin typeface="JetBrains Mono"/>
              </a:rPr>
              <a:t>0 →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30947" y="3383280"/>
            <a:ext cx="10972" cy="1371600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77251" y="3429000"/>
            <a:ext cx="1871411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0" i="0">
                <a:solidFill>
                  <a:srgbClr val="5E5E59"/>
                </a:solidFill>
                <a:latin typeface="JetBrains Mono"/>
              </a:rPr>
              <a:t>SEQ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7251" y="3749039"/>
            <a:ext cx="1871411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4000" b="1" i="0">
                <a:solidFill>
                  <a:srgbClr val="111111"/>
                </a:solidFill>
                <a:latin typeface="JetBrains Mono"/>
              </a:rPr>
              <a:t>800 / 800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76678" y="3383280"/>
            <a:ext cx="10972" cy="1371600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2982" y="3429000"/>
            <a:ext cx="1871411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0" i="0">
                <a:solidFill>
                  <a:srgbClr val="5E5E59"/>
                </a:solidFill>
                <a:latin typeface="JetBrains Mono"/>
              </a:rPr>
              <a:t>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2982" y="3749039"/>
            <a:ext cx="1871411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4000" b="1" i="0">
                <a:solidFill>
                  <a:srgbClr val="111111"/>
                </a:solidFill>
                <a:latin typeface="JetBrains Mono"/>
              </a:rPr>
              <a:t>800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22409" y="3383280"/>
            <a:ext cx="10972" cy="1371600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68713" y="3429000"/>
            <a:ext cx="1871411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0" i="0">
                <a:solidFill>
                  <a:srgbClr val="5E5E59"/>
                </a:solidFill>
                <a:latin typeface="JetBrains Mono"/>
              </a:rPr>
              <a:t>BYTES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68713" y="3749039"/>
            <a:ext cx="1871411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4000" b="1" i="0">
                <a:solidFill>
                  <a:srgbClr val="111111"/>
                </a:solidFill>
                <a:latin typeface="JetBrains Mono"/>
              </a:rPr>
              <a:t>13,645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68140" y="3383280"/>
            <a:ext cx="10972" cy="1371600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14444" y="3429000"/>
            <a:ext cx="1871411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0" i="0">
                <a:solidFill>
                  <a:srgbClr val="5E5E59"/>
                </a:solidFill>
                <a:latin typeface="JetBrains Mono"/>
              </a:rPr>
              <a:t>PAUSE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4444" y="3749039"/>
            <a:ext cx="1871411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4000" b="1" i="0">
                <a:solidFill>
                  <a:srgbClr val="E53E3E"/>
                </a:solidFill>
                <a:latin typeface="JetBrains Mono"/>
              </a:rPr>
              <a:t>3 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892040"/>
            <a:ext cx="10728655" cy="1097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029200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00" b="0" i="0">
                <a:solidFill>
                  <a:srgbClr val="5E5E59"/>
                </a:solidFill>
                <a:latin typeface="JetBrains Mono"/>
              </a:rPr>
              <a:t>QUIESCING → FENCING → RESTORING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44068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Inter"/>
              </a:rPr>
              <a:t>Owner changes, epoch changes, the job does not restart. Then we kill the source and show it again.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StateShift · HACKCBS 9.0 · Cloud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31375" y="6419088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10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STATE SHIFT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96926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00" b="0" i="0">
                <a:solidFill>
                  <a:srgbClr val="E53E3E"/>
                </a:solidFill>
                <a:latin typeface="JetBrains Mono"/>
              </a:rPr>
              <a:t>09 / FAILURE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3000" b="1" i="0">
                <a:solidFill>
                  <a:srgbClr val="111111"/>
                </a:solidFill>
                <a:latin typeface="Inter"/>
              </a:rPr>
              <a:t>Every failure path ends with exactly one owner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10728655" cy="1097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697480"/>
            <a:ext cx="2468880" cy="777240"/>
          </a:xfrm>
          <a:prstGeom prst="rect">
            <a:avLst/>
          </a:prstGeom>
          <a:noFill/>
          <a:ln w="12700">
            <a:solidFill>
              <a:srgbClr val="DC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2843784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JetBrains Mono"/>
              </a:rPr>
              <a:t>DRAINING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0" i="0">
                <a:solidFill>
                  <a:srgbClr val="5E5E59"/>
                </a:solidFill>
                <a:latin typeface="JetBrains Mono"/>
              </a:rPr>
              <a:t>intent only — authority untouched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46120" y="3081528"/>
            <a:ext cx="1005840" cy="0"/>
          </a:xfrm>
          <a:prstGeom prst="line">
            <a:avLst/>
          </a:prstGeom>
          <a:ln w="15240">
            <a:solidFill>
              <a:srgbClr val="5E5E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297680" y="2697480"/>
            <a:ext cx="2468880" cy="777240"/>
          </a:xfrm>
          <a:prstGeom prst="rect">
            <a:avLst/>
          </a:prstGeom>
          <a:noFill/>
          <a:ln w="12700">
            <a:solidFill>
              <a:srgbClr val="DC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80560" y="2843784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JetBrains Mono"/>
              </a:rPr>
              <a:t>RESTORING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15468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0" i="0">
                <a:solidFill>
                  <a:srgbClr val="5E5E59"/>
                </a:solidFill>
                <a:latin typeface="JetBrains Mono"/>
              </a:rPr>
              <a:t>epoch moved, target verifying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12280" y="3081528"/>
            <a:ext cx="1005840" cy="0"/>
          </a:xfrm>
          <a:prstGeom prst="line">
            <a:avLst/>
          </a:prstGeom>
          <a:ln w="15240">
            <a:solidFill>
              <a:srgbClr val="5E5E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7863840" y="2697480"/>
            <a:ext cx="2468880" cy="777240"/>
          </a:xfrm>
          <a:prstGeom prst="rect">
            <a:avLst/>
          </a:prstGeom>
          <a:noFill/>
          <a:ln w="12700">
            <a:solidFill>
              <a:srgbClr val="DC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19" y="2843784"/>
            <a:ext cx="21031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JetBrains Mono"/>
              </a:rPr>
              <a:t>RUNNING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9" y="315468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0" i="0">
                <a:solidFill>
                  <a:srgbClr val="5E5E59"/>
                </a:solidFill>
                <a:latin typeface="JetBrains Mono"/>
              </a:rPr>
              <a:t>new owner executes step N+1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3520439" y="3657600"/>
            <a:ext cx="2743201" cy="0"/>
          </a:xfrm>
          <a:prstGeom prst="line">
            <a:avLst/>
          </a:prstGeom>
          <a:ln w="17780">
            <a:solidFill>
              <a:srgbClr val="E53E3E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520439" y="3749039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0" i="0">
                <a:solidFill>
                  <a:srgbClr val="E53E3E"/>
                </a:solidFill>
                <a:latin typeface="JetBrains Mono"/>
              </a:rPr>
              <a:t>failed-failover-back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605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Inter"/>
              </a:rPr>
              <a:t>Dies before the fence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4178807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00" b="0" i="0">
                <a:solidFill>
                  <a:srgbClr val="5E5E59"/>
                </a:solidFill>
                <a:latin typeface="Inter"/>
              </a:rPr>
              <a:t>source keeps running, migration aborts, nothing lost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4178807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00" b="0" i="0">
                <a:solidFill>
                  <a:srgbClr val="5E5E59"/>
                </a:solidFill>
                <a:latin typeface="JetBrains Mono"/>
              </a:rPr>
              <a:t>aborted-quiesce-failed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617720"/>
            <a:ext cx="10728655" cy="1097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72744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Inter"/>
              </a:rPr>
              <a:t>Dies after the fence, before restore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745736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00" b="0" i="0">
                <a:solidFill>
                  <a:srgbClr val="5E5E59"/>
                </a:solidFill>
                <a:latin typeface="Inter"/>
              </a:rPr>
              <a:t>authority returns to the source with a new epoch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74573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00" b="0" i="0">
                <a:solidFill>
                  <a:srgbClr val="5E5E59"/>
                </a:solidFill>
                <a:latin typeface="JetBrains Mono"/>
              </a:rPr>
              <a:t>failed-failover-back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184648"/>
            <a:ext cx="10728655" cy="1097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294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Inter"/>
              </a:rPr>
              <a:t>Both alive, network partitioned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5312664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00" b="0" i="0">
                <a:solidFill>
                  <a:srgbClr val="5E5E59"/>
                </a:solidFill>
                <a:latin typeface="Inter"/>
              </a:rPr>
              <a:t>only the epoch holder can commit; the other is rejected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5312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00" b="0" i="0">
                <a:solidFill>
                  <a:srgbClr val="5E5E59"/>
                </a:solidFill>
                <a:latin typeface="JetBrains Mono"/>
              </a:rPr>
              <a:t>ok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751576"/>
            <a:ext cx="10728655" cy="1097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943600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00" b="0" i="0">
                <a:solidFill>
                  <a:srgbClr val="5E5E59"/>
                </a:solidFill>
                <a:latin typeface="Inter"/>
              </a:rPr>
              <a:t>Every attempt is recorded — including the failures. The red rows are the ones that prove the design.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StateShift · HACKCBS 9.0 · Cloud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31375" y="6419088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11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STATE SHIFT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96926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00" b="0" i="0">
                <a:solidFill>
                  <a:srgbClr val="E53E3E"/>
                </a:solidFill>
                <a:latin typeface="JetBrains Mono"/>
              </a:rPr>
              <a:t>10 /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1024128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3200" b="1" i="0">
                <a:solidFill>
                  <a:srgbClr val="111111"/>
                </a:solidFill>
                <a:latin typeface="Inter"/>
              </a:rPr>
              <a:t>The correctness proof, not a screenshot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10728655" cy="1097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10728655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97280" y="288036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5E5E59"/>
                </a:solidFill>
                <a:latin typeface="JetBrains Mono"/>
              </a:rPr>
              <a:t>ops        == steps      </a:t>
            </a:r>
            <a:r>
              <a:rPr sz="2100" b="1">
                <a:solidFill>
                  <a:srgbClr val="111111"/>
                </a:solidFill>
                <a:latin typeface="JetBrains Mono"/>
              </a:rPr>
              <a:t>800 / 800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44728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5E5E59"/>
                </a:solidFill>
                <a:latin typeface="JetBrains Mono"/>
              </a:rPr>
              <a:t>checksum   == control    </a:t>
            </a:r>
            <a:r>
              <a:rPr sz="2100" b="1">
                <a:solidFill>
                  <a:srgbClr val="E53E3E"/>
                </a:solidFill>
                <a:latin typeface="JetBrains Mono"/>
              </a:rPr>
              <a:t>e2a580b9471db5b1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014215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5E5E59"/>
                </a:solidFill>
                <a:latin typeface="JetBrains Mono"/>
              </a:rPr>
              <a:t>pause      =             </a:t>
            </a:r>
            <a:r>
              <a:rPr sz="2100" b="1">
                <a:solidFill>
                  <a:srgbClr val="111111"/>
                </a:solidFill>
                <a:latin typeface="JetBrains Mono"/>
              </a:rPr>
              <a:t>3 ms   (loopback, 12 KiB state)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72865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700" b="1" i="0">
                <a:solidFill>
                  <a:srgbClr val="111111"/>
                </a:solidFill>
                <a:latin typeface="Inter"/>
              </a:rPr>
              <a:t>A migrated run and a run that never migrated end at the same checksum.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40680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400" b="0" i="0">
                <a:solidFill>
                  <a:srgbClr val="5E5E59"/>
                </a:solidFill>
                <a:latin typeface="Inter"/>
              </a:rPr>
              <a:t>One committed op per step, zero duplicates, identical final state.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StateShift · HACKCBS 9.0 · Cloud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31375" y="6419088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12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STATE SHIFT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96926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00" b="0" i="0">
                <a:solidFill>
                  <a:srgbClr val="E53E3E"/>
                </a:solidFill>
                <a:latin typeface="JetBrains Mono"/>
              </a:rPr>
              <a:t>11 /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73152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3400" b="1" i="0">
                <a:solidFill>
                  <a:srgbClr val="111111"/>
                </a:solidFill>
                <a:latin typeface="Inter"/>
              </a:rPr>
              <a:t>What this is not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10728655" cy="1097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743200"/>
            <a:ext cx="45720" cy="56692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95097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900" b="0" i="0">
                <a:solidFill>
                  <a:srgbClr val="111111"/>
                </a:solidFill>
                <a:latin typeface="Inter"/>
              </a:rPr>
              <a:t>We move application state — not sockets, file descriptors or kernel memory.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749040"/>
            <a:ext cx="45720" cy="56692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703320"/>
            <a:ext cx="95097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900" b="0" i="0">
                <a:solidFill>
                  <a:srgbClr val="111111"/>
                </a:solidFill>
                <a:latin typeface="Inter"/>
              </a:rPr>
              <a:t>Workloads must express progress as a step machine: Init, Step, Checksum.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754880"/>
            <a:ext cx="45720" cy="56692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709160"/>
            <a:ext cx="95097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900" b="0" i="0">
                <a:solidFill>
                  <a:srgbClr val="111111"/>
                </a:solidFill>
                <a:latin typeface="Inter"/>
              </a:rPr>
              <a:t>A node dying with no migration in flight is not yet auto-recovered (~2 h of work).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897880"/>
            <a:ext cx="10728655" cy="1097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035040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200" b="0" i="0">
                <a:solidFill>
                  <a:srgbClr val="5E5E59"/>
                </a:solidFill>
                <a:latin typeface="Inter"/>
              </a:rPr>
              <a:t>Transparent process migration is a different problem with different constraints. We chose the version that can be correct in a day.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StateShift · HACKCBS 9.0 · Cloud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31375" y="6419088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13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STATE SHIFT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96926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00" b="0" i="0">
                <a:solidFill>
                  <a:srgbClr val="E53E3E"/>
                </a:solidFill>
                <a:latin typeface="JetBrains Mono"/>
              </a:rPr>
              <a:t>12 /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70432"/>
            <a:ext cx="8229600" cy="1005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3200" b="1" i="0">
                <a:solidFill>
                  <a:srgbClr val="111111"/>
                </a:solidFill>
                <a:latin typeface="Inter"/>
              </a:rPr>
              <a:t>The next hour, the next week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86000"/>
            <a:ext cx="10728655" cy="1097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1576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00" b="0" i="0">
                <a:solidFill>
                  <a:srgbClr val="5E5E59"/>
                </a:solidFill>
                <a:latin typeface="JetBrains Mon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6517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900" b="1" i="0">
                <a:solidFill>
                  <a:srgbClr val="111111"/>
                </a:solidFill>
                <a:latin typeface="Inter"/>
              </a:rPr>
              <a:t>Watchdog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724912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400" b="0" i="0">
                <a:solidFill>
                  <a:srgbClr val="5E5E59"/>
                </a:solidFill>
                <a:latin typeface="Inter"/>
              </a:rPr>
              <a:t>recover a dead owner automatically — designed, not built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355848"/>
            <a:ext cx="10728655" cy="1097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58444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00" b="0" i="0">
                <a:solidFill>
                  <a:srgbClr val="5E5E59"/>
                </a:solidFill>
                <a:latin typeface="JetBrains Mon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5204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900" b="1" i="0">
                <a:solidFill>
                  <a:srgbClr val="111111"/>
                </a:solidFill>
                <a:latin typeface="Inter"/>
              </a:rPr>
              <a:t>Streaming transfer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593592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400" b="0" i="0">
                <a:solidFill>
                  <a:srgbClr val="5E5E59"/>
                </a:solidFill>
                <a:latin typeface="Inter"/>
              </a:rPr>
              <a:t>ship chunks during the step instead of upload-then-download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224528"/>
            <a:ext cx="10728655" cy="1097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45312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100" b="0" i="0">
                <a:solidFill>
                  <a:srgbClr val="5E5E59"/>
                </a:solidFill>
                <a:latin typeface="JetBrains Mon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3891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900" b="1" i="0">
                <a:solidFill>
                  <a:srgbClr val="111111"/>
                </a:solidFill>
                <a:latin typeface="Inter"/>
              </a:rPr>
              <a:t>Out-of-process SDK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462272"/>
            <a:ext cx="63093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400" b="0" i="0">
                <a:solidFill>
                  <a:srgbClr val="5E5E59"/>
                </a:solidFill>
                <a:latin typeface="Inter"/>
              </a:rPr>
              <a:t>run third-party workloads under the same fence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093208"/>
            <a:ext cx="10728655" cy="1097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806440"/>
            <a:ext cx="1072865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400" b="0" i="0">
                <a:solidFill>
                  <a:srgbClr val="5E5E59"/>
                </a:solidFill>
                <a:latin typeface="Inter"/>
              </a:rPr>
              <a:t>The next hour of work is the watchdog. The next week is making it a platform.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19088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StateShift · HACKCBS 9.0 · Cloud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31375" y="6419088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14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3657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00" b="0" i="0">
                <a:solidFill>
                  <a:srgbClr val="5E5E59"/>
                </a:solidFill>
                <a:latin typeface="JetBrains Mono"/>
              </a:rPr>
              <a:t>STATE SHIFT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11111"/>
                </a:solidFill>
                <a:latin typeface="Inter"/>
              </a:rPr>
              <a:t>One machine to another, mid-run, </a:t>
            </a:r>
            <a:r>
              <a:rPr sz="4400" b="1">
                <a:solidFill>
                  <a:srgbClr val="E53E3E"/>
                </a:solidFill>
                <a:latin typeface="Inter"/>
              </a:rPr>
              <a:t>without paying twice.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77639"/>
            <a:ext cx="96926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600" b="0" i="0">
                <a:solidFill>
                  <a:srgbClr val="5E5E59"/>
                </a:solidFill>
                <a:latin typeface="Inter"/>
              </a:rPr>
              <a:t>StateShift moves a running workload between machines and proves, with a fence and an op log, that nothing was repeated.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257800"/>
            <a:ext cx="10728655" cy="1097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44068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700" b="1" i="0">
                <a:solidFill>
                  <a:srgbClr val="5E5E59"/>
                </a:solidFill>
                <a:latin typeface="Inter"/>
              </a:rPr>
              <a:t>YugabyteDB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544068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700" b="1" i="0">
                <a:solidFill>
                  <a:srgbClr val="5E5E59"/>
                </a:solidFill>
                <a:latin typeface="Inter"/>
              </a:rPr>
              <a:t>DigitalOcean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544068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700" b="1" i="0">
                <a:solidFill>
                  <a:srgbClr val="5E5E59"/>
                </a:solidFill>
                <a:latin typeface="Inter"/>
              </a:rPr>
              <a:t>Gemini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5440680"/>
            <a:ext cx="29260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700" b="1" i="0">
                <a:solidFill>
                  <a:srgbClr val="5E5E59"/>
                </a:solidFill>
                <a:latin typeface="Inter"/>
              </a:rPr>
              <a:t>Tiger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698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00" b="0" i="0">
                <a:solidFill>
                  <a:srgbClr val="5E5E59"/>
                </a:solidFill>
                <a:latin typeface="JetBrains Mono"/>
              </a:rPr>
              <a:t>github.com/guneettoppo/stateshift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